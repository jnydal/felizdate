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59" r:id="rId6"/>
    <p:sldId id="262" r:id="rId7"/>
    <p:sldId id="260" r:id="rId8"/>
    <p:sldId id="261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150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854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829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541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9555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862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894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75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837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189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314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529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EEA3B-239C-4E64-BFF2-F23F4B803AE0}" type="datetimeFigureOut">
              <a:rPr lang="ru-RU" smtClean="0"/>
              <a:t>18.03.2014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4DB38-4F01-4DF4-821A-6CB79C5199A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26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felizdate.com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  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990" y="2837487"/>
            <a:ext cx="1269841" cy="507937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520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Overview clientside</a:t>
            </a:r>
            <a:endParaRPr lang="ru-RU" dirty="0"/>
          </a:p>
        </p:txBody>
      </p:sp>
      <p:sp>
        <p:nvSpPr>
          <p:cNvPr id="8" name="Rectangle 7"/>
          <p:cNvSpPr/>
          <p:nvPr/>
        </p:nvSpPr>
        <p:spPr>
          <a:xfrm>
            <a:off x="906185" y="3678994"/>
            <a:ext cx="2467323" cy="194421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nb-NO" b="1" dirty="0" smtClean="0"/>
              <a:t>Apache Cordova</a:t>
            </a:r>
          </a:p>
          <a:p>
            <a:endParaRPr lang="nb-NO" dirty="0" smtClean="0"/>
          </a:p>
          <a:p>
            <a:r>
              <a:rPr lang="nb-NO" sz="1600" dirty="0" smtClean="0"/>
              <a:t>Provides JavaScript API to mobilefunctions like vibration, gyro etc.</a:t>
            </a:r>
            <a:endParaRPr lang="ru-RU" sz="1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697" y="2089950"/>
            <a:ext cx="865449" cy="1142392"/>
          </a:xfrm>
          <a:prstGeom prst="rect">
            <a:avLst/>
          </a:prstGeom>
        </p:spPr>
      </p:pic>
      <p:sp>
        <p:nvSpPr>
          <p:cNvPr id="9" name="Up-Down Arrow 8"/>
          <p:cNvSpPr/>
          <p:nvPr/>
        </p:nvSpPr>
        <p:spPr>
          <a:xfrm>
            <a:off x="1357284" y="3391468"/>
            <a:ext cx="144016" cy="288032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501300" y="3350818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Mobile phone app</a:t>
            </a:r>
            <a:endParaRPr lang="ru-RU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804" y="1302462"/>
            <a:ext cx="2572817" cy="2572817"/>
          </a:xfrm>
          <a:prstGeom prst="rect">
            <a:avLst/>
          </a:prstGeom>
        </p:spPr>
      </p:pic>
      <p:sp>
        <p:nvSpPr>
          <p:cNvPr id="17" name="Right Arrow 16"/>
          <p:cNvSpPr/>
          <p:nvPr/>
        </p:nvSpPr>
        <p:spPr>
          <a:xfrm>
            <a:off x="3385841" y="4276854"/>
            <a:ext cx="2016224" cy="1596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/>
          <p:cNvSpPr txBox="1"/>
          <p:nvPr/>
        </p:nvSpPr>
        <p:spPr>
          <a:xfrm>
            <a:off x="3445516" y="446179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Refers to</a:t>
            </a:r>
            <a:endParaRPr lang="ru-RU" dirty="0"/>
          </a:p>
        </p:txBody>
      </p:sp>
      <p:sp>
        <p:nvSpPr>
          <p:cNvPr id="19" name="Cloud 18"/>
          <p:cNvSpPr/>
          <p:nvPr/>
        </p:nvSpPr>
        <p:spPr>
          <a:xfrm>
            <a:off x="4500158" y="4823856"/>
            <a:ext cx="3795372" cy="187170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b="1" dirty="0" smtClean="0"/>
              <a:t>Amazon CloudFront</a:t>
            </a:r>
          </a:p>
          <a:p>
            <a:pPr algn="ctr"/>
            <a:r>
              <a:rPr lang="nb-NO" dirty="0" smtClean="0"/>
              <a:t>Codebase clientside app/static content (JS/CSS/images etc.)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5395608" y="4172035"/>
            <a:ext cx="196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>
                <a:hlinkClick r:id="rId4"/>
              </a:rPr>
              <a:t>www.felizdate.com</a:t>
            </a:r>
            <a:r>
              <a:rPr lang="nb-NO" dirty="0" smtClean="0"/>
              <a:t> </a:t>
            </a:r>
            <a:endParaRPr lang="ru-RU" dirty="0"/>
          </a:p>
        </p:txBody>
      </p:sp>
      <p:sp>
        <p:nvSpPr>
          <p:cNvPr id="22" name="Down Arrow 21"/>
          <p:cNvSpPr/>
          <p:nvPr/>
        </p:nvSpPr>
        <p:spPr>
          <a:xfrm>
            <a:off x="6325836" y="3800451"/>
            <a:ext cx="144016" cy="383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Up-Down Arrow 22"/>
          <p:cNvSpPr/>
          <p:nvPr/>
        </p:nvSpPr>
        <p:spPr>
          <a:xfrm>
            <a:off x="6325836" y="4541367"/>
            <a:ext cx="144016" cy="289755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90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Server environment</a:t>
            </a:r>
            <a:endParaRPr lang="ru-R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811" y="1600200"/>
            <a:ext cx="6142378" cy="4525963"/>
          </a:xfrm>
        </p:spPr>
      </p:pic>
      <p:sp>
        <p:nvSpPr>
          <p:cNvPr id="5" name="TextBox 4"/>
          <p:cNvSpPr txBox="1"/>
          <p:nvPr/>
        </p:nvSpPr>
        <p:spPr>
          <a:xfrm>
            <a:off x="3491880" y="1381313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 smtClean="0"/>
              <a:t>www.felizdate.com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292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Architecture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nb-NO" dirty="0" smtClean="0"/>
              <a:t>Uses third party content delivery networks (CDN) for static content</a:t>
            </a:r>
          </a:p>
          <a:p>
            <a:r>
              <a:rPr lang="nb-NO" dirty="0" smtClean="0"/>
              <a:t>Optional Facebook auth registration process (for faster profile registration)</a:t>
            </a:r>
          </a:p>
          <a:p>
            <a:r>
              <a:rPr lang="nb-NO" dirty="0" smtClean="0"/>
              <a:t>ONE clientside codebase</a:t>
            </a:r>
          </a:p>
          <a:p>
            <a:endParaRPr lang="nb-NO" dirty="0" smtClean="0"/>
          </a:p>
          <a:p>
            <a:pPr marL="0" indent="0">
              <a:buNone/>
            </a:pPr>
            <a:r>
              <a:rPr lang="nb-NO" b="1" i="1" dirty="0" smtClean="0"/>
              <a:t>Advantages</a:t>
            </a:r>
          </a:p>
          <a:p>
            <a:r>
              <a:rPr lang="nb-NO" dirty="0" smtClean="0"/>
              <a:t>Let CDN providers do what they are </a:t>
            </a:r>
            <a:r>
              <a:rPr lang="nb-NO" smtClean="0"/>
              <a:t>best at, and get </a:t>
            </a:r>
            <a:r>
              <a:rPr lang="nb-NO" dirty="0" smtClean="0"/>
              <a:t>stable high speed access to static resources</a:t>
            </a:r>
          </a:p>
          <a:p>
            <a:r>
              <a:rPr lang="nb-NO" dirty="0" smtClean="0"/>
              <a:t>Ease registration process for customers</a:t>
            </a:r>
          </a:p>
          <a:p>
            <a:r>
              <a:rPr lang="nb-NO" dirty="0" smtClean="0"/>
              <a:t>One codebase = less to update/maintain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b="1" dirty="0" smtClean="0"/>
              <a:t>Result</a:t>
            </a:r>
          </a:p>
          <a:p>
            <a:r>
              <a:rPr lang="nb-NO" dirty="0" smtClean="0"/>
              <a:t>Improved UI response and less hassle for customer</a:t>
            </a:r>
          </a:p>
          <a:p>
            <a:r>
              <a:rPr lang="nb-NO" dirty="0" smtClean="0"/>
              <a:t>Effort is moved from updating/maintaining many codebases to quality imprivement and innovation OR improved delivery times</a:t>
            </a:r>
          </a:p>
        </p:txBody>
      </p:sp>
    </p:spTree>
    <p:extLst>
      <p:ext uri="{BB962C8B-B14F-4D97-AF65-F5344CB8AC3E}">
        <p14:creationId xmlns:p14="http://schemas.microsoft.com/office/powerpoint/2010/main" val="1392445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Clientside application (simplified)</a:t>
            </a:r>
            <a:endParaRPr lang="ru-RU" dirty="0"/>
          </a:p>
        </p:txBody>
      </p:sp>
      <p:sp>
        <p:nvSpPr>
          <p:cNvPr id="4" name="Rectangle 3"/>
          <p:cNvSpPr/>
          <p:nvPr/>
        </p:nvSpPr>
        <p:spPr>
          <a:xfrm>
            <a:off x="3227286" y="4615303"/>
            <a:ext cx="2559901" cy="16940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Controller</a:t>
            </a:r>
          </a:p>
          <a:p>
            <a:endParaRPr lang="nb-NO" dirty="0"/>
          </a:p>
          <a:p>
            <a:r>
              <a:rPr lang="nb-NO" sz="1200" dirty="0" smtClean="0"/>
              <a:t>performAction(request)</a:t>
            </a:r>
          </a:p>
          <a:p>
            <a:r>
              <a:rPr lang="nb-NO" sz="1200" dirty="0" smtClean="0"/>
              <a:t>handleSuccessResponse(response)</a:t>
            </a:r>
          </a:p>
          <a:p>
            <a:r>
              <a:rPr lang="nb-NO" sz="1200" dirty="0" smtClean="0"/>
              <a:t>handleErrorResponse(response)</a:t>
            </a:r>
          </a:p>
          <a:p>
            <a:r>
              <a:rPr lang="nb-NO" sz="1200" dirty="0" smtClean="0"/>
              <a:t>handlePushResponse(response)</a:t>
            </a:r>
          </a:p>
          <a:p>
            <a:endParaRPr lang="ru-RU" sz="1200" dirty="0"/>
          </a:p>
        </p:txBody>
      </p:sp>
      <p:sp>
        <p:nvSpPr>
          <p:cNvPr id="5" name="Rectangle 4"/>
          <p:cNvSpPr/>
          <p:nvPr/>
        </p:nvSpPr>
        <p:spPr>
          <a:xfrm>
            <a:off x="502163" y="1704046"/>
            <a:ext cx="2736304" cy="14041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ObservableModel</a:t>
            </a:r>
          </a:p>
          <a:p>
            <a:endParaRPr lang="nb-NO" sz="1200" dirty="0" smtClean="0"/>
          </a:p>
          <a:p>
            <a:r>
              <a:rPr lang="nb-NO" sz="1200" dirty="0" smtClean="0"/>
              <a:t>notifyObservers(eventtype, parameters)</a:t>
            </a:r>
          </a:p>
          <a:p>
            <a:r>
              <a:rPr lang="nb-NO" sz="1200" dirty="0" smtClean="0"/>
              <a:t>addObserver(observer)</a:t>
            </a:r>
          </a:p>
          <a:p>
            <a:r>
              <a:rPr lang="nb-NO" sz="1200" dirty="0" smtClean="0"/>
              <a:t>removeObserver(observer)</a:t>
            </a:r>
          </a:p>
          <a:p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5724128" y="1579213"/>
            <a:ext cx="2880320" cy="2336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View</a:t>
            </a:r>
          </a:p>
          <a:p>
            <a:endParaRPr lang="nb-NO" b="1" dirty="0" smtClean="0"/>
          </a:p>
          <a:p>
            <a:r>
              <a:rPr lang="nb-NO" sz="1200" dirty="0" smtClean="0"/>
              <a:t>handleModelEvent(eventtype, parameters)</a:t>
            </a:r>
          </a:p>
          <a:p>
            <a:r>
              <a:rPr lang="nb-NO" sz="1200" dirty="0" smtClean="0"/>
              <a:t>setLoginState(state)</a:t>
            </a:r>
          </a:p>
          <a:p>
            <a:r>
              <a:rPr lang="nb-NO" sz="1200" dirty="0" smtClean="0"/>
              <a:t>processMessage(message)</a:t>
            </a:r>
          </a:p>
          <a:p>
            <a:r>
              <a:rPr lang="nb-NO" sz="1200" dirty="0" smtClean="0"/>
              <a:t>showProfileDialog(profileId)</a:t>
            </a:r>
          </a:p>
          <a:p>
            <a:r>
              <a:rPr lang="nb-NO" sz="1200" dirty="0" smtClean="0"/>
              <a:t>showDialog(dialogtype, message)</a:t>
            </a:r>
          </a:p>
          <a:p>
            <a:r>
              <a:rPr lang="nb-NO" sz="1200" dirty="0" smtClean="0"/>
              <a:t>closeAllDialogs()</a:t>
            </a:r>
          </a:p>
          <a:p>
            <a:r>
              <a:rPr lang="nb-NO" sz="1200" dirty="0" smtClean="0"/>
              <a:t>handleMenuOption(option)</a:t>
            </a:r>
          </a:p>
          <a:p>
            <a:r>
              <a:rPr lang="nb-NO" sz="1200" dirty="0" smtClean="0"/>
              <a:t>render()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04248" y="5004482"/>
            <a:ext cx="1800200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Static app utilities</a:t>
            </a:r>
          </a:p>
          <a:p>
            <a:endParaRPr lang="nb-NO" sz="1200" dirty="0" smtClean="0"/>
          </a:p>
          <a:p>
            <a:endParaRPr lang="nb-NO" sz="12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502163" y="4600345"/>
            <a:ext cx="1601615" cy="1488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Platform specific libs</a:t>
            </a:r>
          </a:p>
          <a:p>
            <a:r>
              <a:rPr lang="nb-NO" sz="1200" dirty="0"/>
              <a:t>c</a:t>
            </a:r>
            <a:r>
              <a:rPr lang="nb-NO" sz="1200" dirty="0" smtClean="0"/>
              <a:t>ordova.js</a:t>
            </a:r>
          </a:p>
          <a:p>
            <a:r>
              <a:rPr lang="nb-NO" sz="1200" dirty="0"/>
              <a:t>a</a:t>
            </a:r>
            <a:r>
              <a:rPr lang="nb-NO" sz="1200" dirty="0" smtClean="0"/>
              <a:t>ndroid_websocket.js</a:t>
            </a:r>
          </a:p>
          <a:p>
            <a:endParaRPr lang="nb-NO" sz="1200" dirty="0"/>
          </a:p>
          <a:p>
            <a:r>
              <a:rPr lang="nb-NO" sz="1200" dirty="0" smtClean="0"/>
              <a:t>(loaded if needed)</a:t>
            </a:r>
            <a:endParaRPr lang="ru-RU" sz="1200" dirty="0"/>
          </a:p>
        </p:txBody>
      </p:sp>
      <p:sp>
        <p:nvSpPr>
          <p:cNvPr id="9" name="Rectangle 8"/>
          <p:cNvSpPr/>
          <p:nvPr/>
        </p:nvSpPr>
        <p:spPr>
          <a:xfrm>
            <a:off x="3806568" y="2747539"/>
            <a:ext cx="1368152" cy="12627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App (singleton)</a:t>
            </a:r>
          </a:p>
          <a:p>
            <a:r>
              <a:rPr lang="nb-NO" sz="1200" dirty="0" smtClean="0"/>
              <a:t>Start()</a:t>
            </a:r>
            <a:endParaRPr lang="ru-RU" sz="1200" dirty="0"/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221413" y="2276872"/>
            <a:ext cx="2485661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5165373" y="3270904"/>
            <a:ext cx="342731" cy="21602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4" name="Straight Connector 13"/>
          <p:cNvCxnSpPr>
            <a:endCxn id="12" idx="3"/>
          </p:cNvCxnSpPr>
          <p:nvPr/>
        </p:nvCxnSpPr>
        <p:spPr>
          <a:xfrm flipH="1">
            <a:off x="5508104" y="3378916"/>
            <a:ext cx="2160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Diamond 14"/>
          <p:cNvSpPr/>
          <p:nvPr/>
        </p:nvSpPr>
        <p:spPr>
          <a:xfrm>
            <a:off x="3463837" y="2914390"/>
            <a:ext cx="342731" cy="21602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246616" y="3022402"/>
            <a:ext cx="21602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Diamond 16"/>
          <p:cNvSpPr/>
          <p:nvPr/>
        </p:nvSpPr>
        <p:spPr>
          <a:xfrm rot="5400000">
            <a:off x="4335871" y="4086943"/>
            <a:ext cx="342731" cy="21602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Straight Connector 25"/>
          <p:cNvCxnSpPr>
            <a:stCxn id="4" idx="0"/>
            <a:endCxn id="17" idx="3"/>
          </p:cNvCxnSpPr>
          <p:nvPr/>
        </p:nvCxnSpPr>
        <p:spPr>
          <a:xfrm flipV="1">
            <a:off x="4507237" y="4366321"/>
            <a:ext cx="0" cy="2489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74720" y="3022402"/>
            <a:ext cx="5323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 smtClean="0"/>
              <a:t>1       1</a:t>
            </a:r>
            <a:endParaRPr lang="ru-RU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3262609" y="2668169"/>
            <a:ext cx="5323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 smtClean="0"/>
              <a:t>1       1</a:t>
            </a:r>
            <a:endParaRPr lang="ru-RU" sz="1000" dirty="0"/>
          </a:p>
        </p:txBody>
      </p:sp>
      <p:sp>
        <p:nvSpPr>
          <p:cNvPr id="43" name="TextBox 42"/>
          <p:cNvSpPr txBox="1"/>
          <p:nvPr/>
        </p:nvSpPr>
        <p:spPr>
          <a:xfrm>
            <a:off x="4133047" y="4061305"/>
            <a:ext cx="2661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000" dirty="0" smtClean="0"/>
              <a:t>1</a:t>
            </a:r>
          </a:p>
          <a:p>
            <a:r>
              <a:rPr lang="nb-NO" sz="1000" dirty="0" smtClean="0"/>
              <a:t> </a:t>
            </a:r>
          </a:p>
          <a:p>
            <a:r>
              <a:rPr lang="nb-NO" sz="1000" dirty="0" smtClean="0"/>
              <a:t>1</a:t>
            </a:r>
            <a:endParaRPr lang="ru-RU" sz="1000" dirty="0"/>
          </a:p>
        </p:txBody>
      </p:sp>
      <p:cxnSp>
        <p:nvCxnSpPr>
          <p:cNvPr id="47" name="Elbow Connector 46"/>
          <p:cNvCxnSpPr/>
          <p:nvPr/>
        </p:nvCxnSpPr>
        <p:spPr>
          <a:xfrm rot="5400000">
            <a:off x="5423027" y="4280027"/>
            <a:ext cx="1313335" cy="585014"/>
          </a:xfrm>
          <a:prstGeom prst="bentConnector3">
            <a:avLst>
              <a:gd name="adj1" fmla="val 99866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Elbow Connector 54"/>
          <p:cNvCxnSpPr>
            <a:stCxn id="4" idx="1"/>
          </p:cNvCxnSpPr>
          <p:nvPr/>
        </p:nvCxnSpPr>
        <p:spPr>
          <a:xfrm rot="10800000">
            <a:off x="2627784" y="3145512"/>
            <a:ext cx="599502" cy="231680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587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Clientside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12568"/>
          </a:xfrm>
        </p:spPr>
        <p:txBody>
          <a:bodyPr>
            <a:normAutofit fontScale="92500" lnSpcReduction="10000"/>
          </a:bodyPr>
          <a:lstStyle/>
          <a:p>
            <a:r>
              <a:rPr lang="nb-NO" sz="2400" dirty="0" smtClean="0"/>
              <a:t>Uses Mootools &amp; jQuery as DOM bridgEach view object is rendered as DOM element with class-name set as CSS class</a:t>
            </a:r>
          </a:p>
          <a:p>
            <a:r>
              <a:rPr lang="nb-NO" sz="2400" dirty="0" smtClean="0"/>
              <a:t>DOM is accessed in a transactional manner and ONLY used for event API &amp; view rendering</a:t>
            </a:r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r>
              <a:rPr lang="nb-NO" sz="2400" b="1" i="1" dirty="0" smtClean="0"/>
              <a:t>Advantages</a:t>
            </a:r>
          </a:p>
          <a:p>
            <a:r>
              <a:rPr lang="nb-NO" sz="2400" dirty="0" smtClean="0"/>
              <a:t>Cross browser issues are much outsourced to DOM handler providers. Developers can focus on business logic.</a:t>
            </a:r>
          </a:p>
          <a:p>
            <a:r>
              <a:rPr lang="nb-NO" sz="2400" dirty="0" smtClean="0"/>
              <a:t>Makes life easier for an unorganized designer (structured styling basis is provided)</a:t>
            </a:r>
          </a:p>
          <a:p>
            <a:pPr marL="0" indent="0">
              <a:buNone/>
            </a:pPr>
            <a:endParaRPr lang="nb-NO" sz="2400" dirty="0" smtClean="0"/>
          </a:p>
          <a:p>
            <a:pPr marL="0" indent="0">
              <a:buNone/>
            </a:pPr>
            <a:r>
              <a:rPr lang="nb-NO" sz="2400" b="1" dirty="0" smtClean="0"/>
              <a:t>Result</a:t>
            </a:r>
          </a:p>
          <a:p>
            <a:pPr marL="0" indent="0">
              <a:buNone/>
            </a:pPr>
            <a:r>
              <a:rPr lang="nb-NO" sz="2400" dirty="0" smtClean="0"/>
              <a:t>Improved delivery times and UI response = higher customer satisfaction!</a:t>
            </a:r>
          </a:p>
          <a:p>
            <a:pPr marL="0" indent="0">
              <a:buNone/>
            </a:pPr>
            <a:endParaRPr lang="nb-NO" sz="2400" b="1" dirty="0" smtClean="0"/>
          </a:p>
          <a:p>
            <a:pPr marL="0" indent="0">
              <a:buNone/>
            </a:pPr>
            <a:endParaRPr lang="nb-NO" sz="2400" b="1" dirty="0" smtClean="0"/>
          </a:p>
          <a:p>
            <a:pPr marL="0" indent="0">
              <a:buNone/>
            </a:pPr>
            <a:endParaRPr lang="nb-NO" sz="2400" b="1" dirty="0" smtClean="0"/>
          </a:p>
          <a:p>
            <a:pPr marL="0" indent="0">
              <a:buNone/>
            </a:pPr>
            <a:endParaRPr lang="nb-NO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62519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Serverside application (simplified)</a:t>
            </a:r>
            <a:endParaRPr lang="ru-RU" dirty="0"/>
          </a:p>
        </p:txBody>
      </p:sp>
      <p:sp>
        <p:nvSpPr>
          <p:cNvPr id="4" name="Rectangle 3"/>
          <p:cNvSpPr/>
          <p:nvPr/>
        </p:nvSpPr>
        <p:spPr>
          <a:xfrm>
            <a:off x="1043608" y="1577519"/>
            <a:ext cx="1728192" cy="33123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URL mapped actions</a:t>
            </a:r>
          </a:p>
          <a:p>
            <a:endParaRPr lang="nb-NO" dirty="0"/>
          </a:p>
          <a:p>
            <a:r>
              <a:rPr lang="nb-NO" sz="1200" dirty="0" smtClean="0"/>
              <a:t>Login(…)</a:t>
            </a:r>
          </a:p>
          <a:p>
            <a:r>
              <a:rPr lang="nb-NO" sz="1200" dirty="0" smtClean="0"/>
              <a:t>setStatus(…)</a:t>
            </a:r>
          </a:p>
          <a:p>
            <a:r>
              <a:rPr lang="nb-NO" sz="1200" dirty="0" smtClean="0"/>
              <a:t>Logout(…)</a:t>
            </a:r>
          </a:p>
          <a:p>
            <a:r>
              <a:rPr lang="nb-NO" sz="1200" dirty="0" smtClean="0"/>
              <a:t>getUserSession(…)</a:t>
            </a:r>
          </a:p>
          <a:p>
            <a:r>
              <a:rPr lang="nb-NO" sz="1200" dirty="0" smtClean="0"/>
              <a:t>setPosition(…)</a:t>
            </a:r>
          </a:p>
          <a:p>
            <a:r>
              <a:rPr lang="nb-NO" sz="1200" dirty="0" smtClean="0"/>
              <a:t>getOptions(…)</a:t>
            </a:r>
          </a:p>
          <a:p>
            <a:r>
              <a:rPr lang="nb-NO" sz="1200" dirty="0" smtClean="0"/>
              <a:t>getProfile(…)</a:t>
            </a:r>
          </a:p>
          <a:p>
            <a:r>
              <a:rPr lang="nb-NO" sz="1200" dirty="0" smtClean="0"/>
              <a:t>sendMessage(…)</a:t>
            </a:r>
          </a:p>
          <a:p>
            <a:r>
              <a:rPr lang="nb-NO" dirty="0" smtClean="0"/>
              <a:t>...</a:t>
            </a:r>
          </a:p>
          <a:p>
            <a:endParaRPr lang="ru-RU" dirty="0"/>
          </a:p>
        </p:txBody>
      </p:sp>
      <p:sp>
        <p:nvSpPr>
          <p:cNvPr id="5" name="Rectangle 4"/>
          <p:cNvSpPr/>
          <p:nvPr/>
        </p:nvSpPr>
        <p:spPr>
          <a:xfrm>
            <a:off x="3923928" y="1844824"/>
            <a:ext cx="1656184" cy="4288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Django models</a:t>
            </a:r>
          </a:p>
          <a:p>
            <a:endParaRPr lang="nb-NO" b="1" dirty="0"/>
          </a:p>
          <a:p>
            <a:r>
              <a:rPr lang="nb-NO" sz="1200" dirty="0" smtClean="0"/>
              <a:t>Worker</a:t>
            </a:r>
          </a:p>
          <a:p>
            <a:r>
              <a:rPr lang="nb-NO" sz="1200" dirty="0" smtClean="0"/>
              <a:t>City</a:t>
            </a:r>
          </a:p>
          <a:p>
            <a:r>
              <a:rPr lang="nb-NO" sz="1200" dirty="0" smtClean="0"/>
              <a:t>Country</a:t>
            </a:r>
          </a:p>
          <a:p>
            <a:r>
              <a:rPr lang="nb-NO" sz="1200" dirty="0" smtClean="0"/>
              <a:t>Occupation</a:t>
            </a:r>
          </a:p>
          <a:p>
            <a:r>
              <a:rPr lang="nb-NO" sz="1200" dirty="0" smtClean="0"/>
              <a:t>EducationalDegree</a:t>
            </a:r>
          </a:p>
          <a:p>
            <a:r>
              <a:rPr lang="nb-NO" sz="1200" dirty="0" smtClean="0"/>
              <a:t>Political</a:t>
            </a:r>
          </a:p>
          <a:p>
            <a:r>
              <a:rPr lang="nb-NO" sz="1200" dirty="0" smtClean="0"/>
              <a:t>Religion</a:t>
            </a:r>
          </a:p>
          <a:p>
            <a:r>
              <a:rPr lang="nb-NO" sz="1200" dirty="0" smtClean="0"/>
              <a:t>Hairtype</a:t>
            </a:r>
          </a:p>
          <a:p>
            <a:r>
              <a:rPr lang="nb-NO" sz="1200" dirty="0" smtClean="0"/>
              <a:t>Eyecolor</a:t>
            </a:r>
          </a:p>
          <a:p>
            <a:r>
              <a:rPr lang="nb-NO" sz="1200" dirty="0" smtClean="0"/>
              <a:t>Bodytype</a:t>
            </a:r>
          </a:p>
          <a:p>
            <a:r>
              <a:rPr lang="nb-NO" sz="1200" dirty="0" smtClean="0"/>
              <a:t>Category</a:t>
            </a:r>
          </a:p>
          <a:p>
            <a:r>
              <a:rPr lang="nb-NO" sz="1200" smtClean="0"/>
              <a:t>Interest</a:t>
            </a:r>
            <a:endParaRPr lang="nb-NO" sz="1200" dirty="0" smtClean="0"/>
          </a:p>
          <a:p>
            <a:r>
              <a:rPr lang="nb-NO" sz="1200" dirty="0" smtClean="0"/>
              <a:t>UserProfile</a:t>
            </a:r>
          </a:p>
          <a:p>
            <a:r>
              <a:rPr lang="nb-NO" sz="1200" dirty="0" smtClean="0"/>
              <a:t>Media</a:t>
            </a:r>
          </a:p>
          <a:p>
            <a:r>
              <a:rPr lang="nb-NO" sz="1200" dirty="0" smtClean="0"/>
              <a:t>PendingProfileImages</a:t>
            </a:r>
          </a:p>
          <a:p>
            <a:r>
              <a:rPr lang="nb-NO" sz="1200" dirty="0" smtClean="0"/>
              <a:t>Message</a:t>
            </a:r>
          </a:p>
          <a:p>
            <a:r>
              <a:rPr lang="nb-NO" sz="1200" dirty="0" smtClean="0"/>
              <a:t>Membership</a:t>
            </a:r>
          </a:p>
          <a:p>
            <a:r>
              <a:rPr lang="nb-NO" sz="1200" dirty="0" smtClean="0"/>
              <a:t>CustomUser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5580112" y="3272846"/>
            <a:ext cx="792088" cy="14401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6372200" y="2420888"/>
            <a:ext cx="2232248" cy="19442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b="1" dirty="0" smtClean="0"/>
              <a:t>Django persistence layer</a:t>
            </a:r>
            <a:endParaRPr lang="ru-RU" b="1" dirty="0"/>
          </a:p>
        </p:txBody>
      </p:sp>
      <p:sp>
        <p:nvSpPr>
          <p:cNvPr id="8" name="Rectangle 7"/>
          <p:cNvSpPr/>
          <p:nvPr/>
        </p:nvSpPr>
        <p:spPr>
          <a:xfrm>
            <a:off x="845960" y="5301208"/>
            <a:ext cx="2520280" cy="11521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nb-NO" b="1" dirty="0" smtClean="0"/>
              <a:t>handlerUtils.py</a:t>
            </a:r>
          </a:p>
          <a:p>
            <a:endParaRPr lang="nb-NO" b="1" dirty="0" smtClean="0"/>
          </a:p>
          <a:p>
            <a:r>
              <a:rPr lang="nb-NO" sz="1200" b="1" dirty="0" smtClean="0"/>
              <a:t>Generic JSON converters, response types etc.</a:t>
            </a:r>
            <a:endParaRPr lang="ru-RU" sz="1200" b="1" dirty="0"/>
          </a:p>
        </p:txBody>
      </p:sp>
      <p:sp>
        <p:nvSpPr>
          <p:cNvPr id="10" name="Up-Down Arrow 9"/>
          <p:cNvSpPr/>
          <p:nvPr/>
        </p:nvSpPr>
        <p:spPr>
          <a:xfrm>
            <a:off x="1691680" y="4889887"/>
            <a:ext cx="144016" cy="411321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Left-Right Arrow 10"/>
          <p:cNvSpPr/>
          <p:nvPr/>
        </p:nvSpPr>
        <p:spPr>
          <a:xfrm>
            <a:off x="2804356" y="3320988"/>
            <a:ext cx="1119572" cy="14401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22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Serverside</a:t>
            </a:r>
            <a:endParaRPr lang="ru-R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sz="2400" dirty="0" smtClean="0"/>
              <a:t>Facilitates existing functionality in Tornado/Django framework to handle wsgi transactions (HTTP &amp; WebSocket) and data-layer/DB. Use existing developed functionality in framework</a:t>
            </a:r>
          </a:p>
          <a:p>
            <a:r>
              <a:rPr lang="nb-NO" sz="2400" dirty="0" smtClean="0"/>
              <a:t>Uses generic JSON/result typecoverters</a:t>
            </a:r>
          </a:p>
          <a:p>
            <a:r>
              <a:rPr lang="nb-NO" sz="2400" smtClean="0"/>
              <a:t>Uses Django driven tests db for integration tests on from action/request handler level and down</a:t>
            </a:r>
            <a:endParaRPr lang="nb-NO" sz="2400" dirty="0" smtClean="0"/>
          </a:p>
          <a:p>
            <a:pPr marL="0" indent="0">
              <a:buNone/>
            </a:pPr>
            <a:endParaRPr lang="nb-NO" sz="2400" dirty="0"/>
          </a:p>
          <a:p>
            <a:pPr marL="0" indent="0">
              <a:buNone/>
            </a:pPr>
            <a:r>
              <a:rPr lang="nb-NO" sz="2400" b="1" i="1" dirty="0" smtClean="0"/>
              <a:t>Advantages</a:t>
            </a:r>
            <a:endParaRPr lang="nb-NO" sz="2400" dirty="0"/>
          </a:p>
          <a:p>
            <a:r>
              <a:rPr lang="nb-NO" sz="2400" dirty="0" smtClean="0"/>
              <a:t>Developers can focus on business logic &amp; its less to do when customer changes his mind. This means more time to improve tests/coverage which gives higher teqhnical quality.</a:t>
            </a:r>
          </a:p>
          <a:p>
            <a:pPr marL="0" indent="0">
              <a:buNone/>
            </a:pPr>
            <a:endParaRPr lang="nb-NO" sz="2400" b="1" dirty="0"/>
          </a:p>
          <a:p>
            <a:pPr marL="0" indent="0">
              <a:buNone/>
            </a:pPr>
            <a:r>
              <a:rPr lang="nb-NO" sz="2400" b="1" dirty="0" smtClean="0"/>
              <a:t>Result</a:t>
            </a:r>
          </a:p>
          <a:p>
            <a:pPr marL="0" indent="0">
              <a:buNone/>
            </a:pPr>
            <a:r>
              <a:rPr lang="nb-NO" sz="2400" dirty="0" smtClean="0"/>
              <a:t>Improved delivery times/less bugs = higher customer satisfaction!</a:t>
            </a:r>
          </a:p>
          <a:p>
            <a:pPr marL="0" indent="0">
              <a:buNone/>
            </a:pPr>
            <a:endParaRPr lang="nb-NO" sz="2400" b="1" dirty="0" smtClean="0"/>
          </a:p>
          <a:p>
            <a:pPr marL="0" indent="0">
              <a:buNone/>
            </a:pPr>
            <a:endParaRPr lang="nb-NO" sz="2400" b="1" dirty="0" smtClean="0"/>
          </a:p>
          <a:p>
            <a:pPr marL="0" indent="0">
              <a:buNone/>
            </a:pPr>
            <a:endParaRPr lang="nb-NO" sz="2400" dirty="0" smtClean="0"/>
          </a:p>
        </p:txBody>
      </p:sp>
    </p:spTree>
    <p:extLst>
      <p:ext uri="{BB962C8B-B14F-4D97-AF65-F5344CB8AC3E}">
        <p14:creationId xmlns:p14="http://schemas.microsoft.com/office/powerpoint/2010/main" val="218251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413</Words>
  <Application>Microsoft Office PowerPoint</Application>
  <PresentationFormat>On-screen Show (4:3)</PresentationFormat>
  <Paragraphs>120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 </vt:lpstr>
      <vt:lpstr>Overview clientside</vt:lpstr>
      <vt:lpstr>Server environment</vt:lpstr>
      <vt:lpstr>Architecture</vt:lpstr>
      <vt:lpstr>Clientside application (simplified)</vt:lpstr>
      <vt:lpstr>Clientside</vt:lpstr>
      <vt:lpstr>Serverside application (simplified)</vt:lpstr>
      <vt:lpstr>Serverside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jny</dc:creator>
  <cp:lastModifiedBy>jny</cp:lastModifiedBy>
  <cp:revision>61</cp:revision>
  <dcterms:created xsi:type="dcterms:W3CDTF">2014-03-15T13:40:17Z</dcterms:created>
  <dcterms:modified xsi:type="dcterms:W3CDTF">2014-03-18T20:34:48Z</dcterms:modified>
</cp:coreProperties>
</file>